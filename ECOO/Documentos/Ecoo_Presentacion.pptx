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3A7A3B">
              <a:alpha val="40000"/>
            </a:srgbClr>
          </a:solidFill>
          <a:ln w="12700">
            <a:solidFill>
              <a:srgbClr val="3A7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1A3A1B">
              <a:alpha val="50000"/>
            </a:srgbClr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tus acciones sostenibles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recompensas reales 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2194560" cy="640080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🪙 EcoCoins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17520" y="3749040"/>
            <a:ext cx="3474720" cy="640080"/>
          </a:xfrm>
          <a:prstGeom prst="roundRect">
            <a:avLst>
              <a:gd name="adj" fmla="val 2142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3749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Sostenibilidad &amp; Finanzas Verdes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4709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8A8"/>
                </a:solidFill>
              </a:rPr>
              <a:t>UPSA · Feria de Emprendimiento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82880" y="3840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D8A8"/>
                </a:solidFill>
              </a:rPr>
              <a:t>¿Por qué nadie actúa?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49040" y="274320"/>
            <a:ext cx="5120640" cy="1371600"/>
          </a:xfrm>
          <a:prstGeom prst="rect">
            <a:avLst/>
          </a:prstGeom>
          <a:solidFill>
            <a:srgbClr val="F1F6EE"/>
          </a:solidFill>
          <a:ln w="12700">
            <a:solidFill>
              <a:srgbClr val="E0E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😔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663440" y="365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incentivo económico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7772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gente quiere ser ecológica, pero no hay beneficio tangible por hacerlo.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1828800"/>
            <a:ext cx="5120640" cy="1371600"/>
          </a:xfrm>
          <a:prstGeom prst="rect">
            <a:avLst/>
          </a:prstGeom>
          <a:solidFill>
            <a:srgbClr val="F1F6EE"/>
          </a:solidFill>
          <a:ln w="12700">
            <a:solidFill>
              <a:srgbClr val="E0E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 sin impacto medible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gastan en RSE sin datos reales de impacto ni retorno de marca.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3383280"/>
            <a:ext cx="5120640" cy="1371600"/>
          </a:xfrm>
          <a:prstGeom prst="rect">
            <a:avLst/>
          </a:prstGeom>
          <a:solidFill>
            <a:srgbClr val="F1F6EE"/>
          </a:solidFill>
          <a:ln w="12700">
            <a:solidFill>
              <a:srgbClr val="E0E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3474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Reciclaje sin sistema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38862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Santa Cruz no existe un ecosistema que conecte acción ecológica con recompensa.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A9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digital donde cada acción sostenible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genera EcoCoins — canjeables por beneficios reales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negocios locales de Santa Cruz.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2560320" cy="1737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🧑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acciones eco y acumula EcoCoins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108960"/>
            <a:ext cx="2560320" cy="1737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incentivos y gana posicionamiento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2560320" cy="1737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🪙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EcoCoin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que une acción con recompensa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2286000" cy="2286000"/>
          </a:xfrm>
          <a:prstGeom prst="ellipse">
            <a:avLst/>
          </a:prstGeom>
          <a:solidFill>
            <a:srgbClr val="F5A623"/>
          </a:solidFill>
          <a:ln w="38100">
            <a:solidFill>
              <a:srgbClr val="E090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🪙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21792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EcoCoin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A9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ciclo Ecoo en 4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1920240" cy="3200400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7160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♻️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Eco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recicla, compra producto sostenible o usa transporte alternativo.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2651760"/>
            <a:ext cx="182880" cy="0"/>
          </a:xfrm>
          <a:prstGeom prst="line">
            <a:avLst/>
          </a:prstGeom>
          <a:noFill/>
          <a:ln w="25400">
            <a:solidFill>
              <a:srgbClr val="5A9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554480"/>
            <a:ext cx="1920240" cy="3200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37160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2316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1460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QR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32004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un QR o registra la acción en la app Ecoo para verificarla.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2651760"/>
            <a:ext cx="182880" cy="0"/>
          </a:xfrm>
          <a:prstGeom prst="line">
            <a:avLst/>
          </a:prstGeom>
          <a:noFill/>
          <a:ln w="25400">
            <a:solidFill>
              <a:srgbClr val="5A9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554480"/>
            <a:ext cx="1920240" cy="3200400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137160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🪙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66344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EcoCoins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32004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EcoCoins se acreditan automáticamente a su billetera digital.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2651760"/>
            <a:ext cx="182880" cy="0"/>
          </a:xfrm>
          <a:prstGeom prst="line">
            <a:avLst/>
          </a:prstGeom>
          <a:noFill/>
          <a:ln w="25400">
            <a:solidFill>
              <a:srgbClr val="5A9E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1554480"/>
            <a:ext cx="1920240" cy="3200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60920" y="137160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084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🎁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81228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Canjea Beneficios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12280" y="32004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tus EcoCoins en descuentos de cafés, gimnasios, tiendas y más.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A9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B2B2C · ¿Quién paga y por qué?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508760"/>
            <a:ext cx="3657600" cy="3200400"/>
          </a:xfrm>
          <a:prstGeom prst="rect">
            <a:avLst/>
          </a:prstGeom>
          <a:solidFill>
            <a:srgbClr val="1E3A1E"/>
          </a:solidFill>
          <a:ln w="12700">
            <a:solidFill>
              <a:srgbClr val="5A9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USUARIO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GRATUITO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Descarga y registra acciones eco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363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Acumula EcoCoins sin costo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753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Canjea en negocios locales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1421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 su impacto ambiental real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508760"/>
            <a:ext cx="3840480" cy="3200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EMPRESA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064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SUSCRIPCIÓN MENSUAL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26974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Paga según EcoCoins emitidos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31363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Panel de impacto y métricas RSE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357530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Posicionamiento de marca eco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401421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Acceso a clientes comprometidos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834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A623"/>
                </a:solidFill>
              </a:rPr>
              <a:t>⟺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840480" y="3383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A9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META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Santa Cruz de la Sierra, Bolivia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931920" cy="1600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Geográfico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Santa Cruz de la Sierra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Inicio: zona norte y equipamiento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569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Expansión: resto de Bolivia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3931920" cy="1600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Demográfico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Usuarios: 18–35 años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Estudiantes universitarios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569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Jóvenes profesionales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PyMEs y medianas empresas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3931920" cy="1600200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429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Psicográfico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3867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Consumidores con conciencia eco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Empresas que buscan RSE auténtica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398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Interés en ahorro y beneficios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337560"/>
            <a:ext cx="3931920" cy="1600200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429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Conductual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00600" y="3867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 realizan acciones eco sin incentivo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Empresas con presupuesto de marketing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4398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Orientados a impacto medible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A9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Ecoo no tiene competidor directo en Bolivia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2011680" cy="64008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463040"/>
            <a:ext cx="14630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46304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Ecoo 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463040"/>
            <a:ext cx="1645920" cy="64008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Programas 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tradicionales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32120" y="1463040"/>
            <a:ext cx="1645920" cy="64008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Apps de reciclaje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(sin reward)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1463040"/>
            <a:ext cx="1645920" cy="64008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Puntos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fidelización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20116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2011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1B"/>
                </a:solidFill>
              </a:rPr>
              <a:t>Recompensa económica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31720" y="2148840"/>
            <a:ext cx="1463040" cy="521208"/>
          </a:xfrm>
          <a:prstGeom prst="rect">
            <a:avLst/>
          </a:prstGeom>
          <a:solidFill>
            <a:srgbClr val="EAF7E3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2148840"/>
            <a:ext cx="146304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8C2D"/>
                </a:solidFill>
              </a:rPr>
              <a:t>✅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0480" y="2148840"/>
            <a:ext cx="1645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14884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32120" y="2148840"/>
            <a:ext cx="1645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14884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23760" y="2148840"/>
            <a:ext cx="1645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214884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8C2D"/>
                </a:solidFill>
              </a:rPr>
              <a:t>✅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2697480"/>
            <a:ext cx="2011680" cy="521208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697480"/>
            <a:ext cx="2011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1B"/>
                </a:solidFill>
              </a:rPr>
              <a:t>Acción eco verificable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31720" y="2697480"/>
            <a:ext cx="1463040" cy="521208"/>
          </a:xfrm>
          <a:prstGeom prst="rect">
            <a:avLst/>
          </a:prstGeom>
          <a:solidFill>
            <a:srgbClr val="EAF7E3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2697480"/>
            <a:ext cx="146304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8C2D"/>
                </a:solidFill>
              </a:rPr>
              <a:t>✅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0480" y="2697480"/>
            <a:ext cx="1645920" cy="521208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269748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32120" y="2697480"/>
            <a:ext cx="1645920" cy="521208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269748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8C2D"/>
                </a:solidFill>
              </a:rPr>
              <a:t>✅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23760" y="2697480"/>
            <a:ext cx="1645920" cy="521208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69748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74320" y="3246120"/>
            <a:ext cx="20116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246120"/>
            <a:ext cx="2011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1B"/>
                </a:solidFill>
              </a:rPr>
              <a:t>Modelo B2B2C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31720" y="3246120"/>
            <a:ext cx="1463040" cy="521208"/>
          </a:xfrm>
          <a:prstGeom prst="rect">
            <a:avLst/>
          </a:prstGeom>
          <a:solidFill>
            <a:srgbClr val="EAF7E3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3246120"/>
            <a:ext cx="146304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8C2D"/>
                </a:solidFill>
              </a:rPr>
              <a:t>✅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40480" y="3246120"/>
            <a:ext cx="1645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324612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❌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532120" y="3246120"/>
            <a:ext cx="1645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324612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❌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223760" y="3246120"/>
            <a:ext cx="1645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324612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❌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74320" y="3794760"/>
            <a:ext cx="2011680" cy="521208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794760"/>
            <a:ext cx="2011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1B"/>
                </a:solidFill>
              </a:rPr>
              <a:t>Impacto medible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31720" y="3794760"/>
            <a:ext cx="1463040" cy="521208"/>
          </a:xfrm>
          <a:prstGeom prst="rect">
            <a:avLst/>
          </a:prstGeom>
          <a:solidFill>
            <a:srgbClr val="EAF7E3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3794760"/>
            <a:ext cx="146304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8C2D"/>
                </a:solidFill>
              </a:rPr>
              <a:t>✅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40480" y="3794760"/>
            <a:ext cx="1645920" cy="521208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379476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🟡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532120" y="3794760"/>
            <a:ext cx="1645920" cy="521208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379476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8C2D"/>
                </a:solidFill>
              </a:rPr>
              <a:t>✅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23760" y="3794760"/>
            <a:ext cx="1645920" cy="521208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23760" y="379476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❌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74320" y="4343400"/>
            <a:ext cx="20116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343400"/>
            <a:ext cx="201168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1B"/>
                </a:solidFill>
              </a:rPr>
              <a:t>Disponible en Bolivia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331720" y="4343400"/>
            <a:ext cx="1463040" cy="521208"/>
          </a:xfrm>
          <a:prstGeom prst="rect">
            <a:avLst/>
          </a:prstGeom>
          <a:solidFill>
            <a:srgbClr val="EAF7E3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1720" y="4343400"/>
            <a:ext cx="146304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8C2D"/>
                </a:solidFill>
              </a:rPr>
              <a:t>✅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840480" y="4343400"/>
            <a:ext cx="1645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0" y="434340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8C2D"/>
                </a:solidFill>
              </a:rPr>
              <a:t>✅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532120" y="4343400"/>
            <a:ext cx="1645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434340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❌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223760" y="4343400"/>
            <a:ext cx="1645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23760" y="4343400"/>
            <a:ext cx="1645920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8C2D"/>
                </a:solidFill>
              </a:rPr>
              <a:t>✅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A9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E INVERSIÓN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Arranque estimado: $2,000 – $2,500 USD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8321040" cy="566928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1673352"/>
            <a:ext cx="3200400" cy="228600"/>
          </a:xfrm>
          <a:prstGeom prst="rect">
            <a:avLst/>
          </a:prstGeom>
          <a:solidFill>
            <a:srgbClr val="D8EDCC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1673352"/>
            <a:ext cx="1536192" cy="228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819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MVP (web + QR)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15819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$800–$1,200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331720"/>
            <a:ext cx="3200400" cy="228600"/>
          </a:xfrm>
          <a:prstGeom prst="rect">
            <a:avLst/>
          </a:prstGeom>
          <a:solidFill>
            <a:srgbClr val="D8EDCC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2331720"/>
            <a:ext cx="256032" cy="228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marca (Ecoo + EcoCoins)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0" y="224028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8321040" cy="566928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2990088"/>
            <a:ext cx="3200400" cy="228600"/>
          </a:xfrm>
          <a:prstGeom prst="rect">
            <a:avLst/>
          </a:prstGeom>
          <a:solidFill>
            <a:srgbClr val="D8EDCC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2990088"/>
            <a:ext cx="384048" cy="228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9864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de lanzamiento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0" y="28986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4838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3648456"/>
            <a:ext cx="3200400" cy="228600"/>
          </a:xfrm>
          <a:prstGeom prst="rect">
            <a:avLst/>
          </a:prstGeom>
          <a:solidFill>
            <a:srgbClr val="D8EDCC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3648456"/>
            <a:ext cx="640080" cy="228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570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y operaciones (3 meses)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355701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142232"/>
            <a:ext cx="8321040" cy="566928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4306824"/>
            <a:ext cx="3200400" cy="228600"/>
          </a:xfrm>
          <a:prstGeom prst="rect">
            <a:avLst/>
          </a:prstGeom>
          <a:solidFill>
            <a:srgbClr val="D8EDCC"/>
          </a:solidFill>
          <a:ln w="12700">
            <a:solidFill>
              <a:srgbClr val="D8ED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4306824"/>
            <a:ext cx="384048" cy="228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153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42153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$200–$300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321040" cy="365760"/>
          </a:xfrm>
          <a:prstGeom prst="rect">
            <a:avLst/>
          </a:prstGeom>
          <a:solidFill>
            <a:srgbClr val="FFF9E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Las primeras empresas asociadas co-financian el piloto a cambio de posicionamiento preferencial.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3A7A3B">
              <a:alpha val="40000"/>
            </a:srgbClr>
          </a:solidFill>
          <a:ln w="12700">
            <a:solidFill>
              <a:srgbClr val="3A7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 días. Sin app.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Validación real.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2606040" cy="26060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331720"/>
            <a:ext cx="26060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3–5 empresas piloto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422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Diseño QR físico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8970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+ formulario Google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331720"/>
            <a:ext cx="2606040" cy="26060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331720"/>
            <a:ext cx="26060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788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37947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Activación en universidades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41422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Primeros usuarios beta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448970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Primeros EcoCoins emitidos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331720"/>
            <a:ext cx="2606040" cy="26060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331720"/>
            <a:ext cx="26060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2788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03504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26480" y="37947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Métricas de retención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41422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empresas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448970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Decisión: escalar o pivotar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A9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AMBIENTAL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Ecoo mide desde el día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3931920" cy="1600200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54480"/>
            <a:ext cx="109728" cy="1600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♻️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reciclados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registrada = peso verificado en kg de material reciclado.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931920" cy="1600200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109728" cy="1600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76072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Huella reducida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0" y="2148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CO₂ evitado por acciones de transporte y consumo.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3931920" cy="1600200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83280"/>
            <a:ext cx="109728" cy="1600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6304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977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EcoCoin emitido tiene una acción ecológica verificada detrás.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383280"/>
            <a:ext cx="3931920" cy="1600200"/>
          </a:xfrm>
          <a:prstGeom prst="rect">
            <a:avLst/>
          </a:prstGeom>
          <a:solidFill>
            <a:srgbClr val="F1F6EE"/>
          </a:solidFill>
          <a:ln w="12700">
            <a:solidFill>
              <a:srgbClr val="D8E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383280"/>
            <a:ext cx="109728" cy="1600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💚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76072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 medible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3977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ven exactamente cuánto impacto generó su inversión.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 verde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debería tener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recompensa.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Ecoo, por fin la tiene. 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2011680" cy="594360"/>
          </a:xfrm>
          <a:prstGeom prst="roundRect">
            <a:avLst>
              <a:gd name="adj" fmla="val 18462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77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🪙 EcoCoins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3840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5A9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ecoo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Ecoo - Plataforma de Sostenibilidad</dc:title>
  <dc:subject>PptxGenJS Presentation</dc:subject>
  <dc:creator>PptxGenJS</dc:creator>
  <cp:lastModifiedBy>PptxGenJS</cp:lastModifiedBy>
  <cp:revision>1</cp:revision>
  <dcterms:created xsi:type="dcterms:W3CDTF">2026-05-05T00:49:42Z</dcterms:created>
  <dcterms:modified xsi:type="dcterms:W3CDTF">2026-05-05T00:49:42Z</dcterms:modified>
</cp:coreProperties>
</file>